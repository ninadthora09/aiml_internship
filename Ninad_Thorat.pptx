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4" d="100"/>
          <a:sy n="94" d="100"/>
        </p:scale>
        <p:origin x="-240" y="-67"/>
      </p:cViewPr>
      <p:guideLst>
        <p:guide orient="horz" pos="792"/>
        <p:guide orient="horz" pos="1080"/>
        <p:guide pos="192"/>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xmlns=""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xmlns=""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xmlns=""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xmlns=""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xmlns=""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ninadthora09/AIML_Internship"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xmlns=""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xmlns=""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xmlns="" id="{D5067E9C-C7B9-4476-9708-CBB3F66FD892}"/>
              </a:ext>
            </a:extLst>
          </p:cNvPr>
          <p:cNvSpPr txBox="1"/>
          <p:nvPr/>
        </p:nvSpPr>
        <p:spPr>
          <a:xfrm>
            <a:off x="4434808" y="2838281"/>
            <a:ext cx="6870861" cy="3416320"/>
          </a:xfrm>
          <a:prstGeom prst="rect">
            <a:avLst/>
          </a:prstGeom>
          <a:noFill/>
        </p:spPr>
        <p:txBody>
          <a:bodyPr wrap="square" rtlCol="0">
            <a:spAutoFit/>
          </a:bodyPr>
          <a:lstStyle/>
          <a:p>
            <a:pPr algn="r"/>
            <a:r>
              <a:rPr lang="en-US" sz="3600" dirty="0" smtClean="0"/>
              <a:t>E-Waste Image Classification Using EfficientNetV2B0 (Transfer </a:t>
            </a:r>
            <a:r>
              <a:rPr lang="en-US" sz="3600" dirty="0" smtClean="0"/>
              <a:t>Learning)</a:t>
            </a:r>
          </a:p>
          <a:p>
            <a:pPr algn="r"/>
            <a:r>
              <a:rPr lang="en-US" sz="3600" dirty="0" smtClean="0"/>
              <a:t>Ninad Thorat</a:t>
            </a:r>
            <a:r>
              <a:rPr lang="en-US" sz="3600" dirty="0" smtClean="0"/>
              <a:t> </a:t>
            </a:r>
            <a:endParaRPr lang="en-US" sz="3600" dirty="0" smtClean="0"/>
          </a:p>
          <a:p>
            <a:pPr algn="r"/>
            <a:endParaRPr lang="en-US" sz="3600" dirty="0" smtClean="0"/>
          </a:p>
          <a:p>
            <a:pPr algn="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xmlns=""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xmlns="" id="{BD3530AF-9771-470E-A9BF-F28AA2275338}"/>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xmlns=""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xmlns=""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xmlns=""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xmlns=""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xmlns=""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xmlns=""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xmlns=""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Rectangle 7"/>
          <p:cNvSpPr/>
          <p:nvPr/>
        </p:nvSpPr>
        <p:spPr>
          <a:xfrm>
            <a:off x="226577" y="1707419"/>
            <a:ext cx="6918690"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itchFamily="2" charset="2"/>
              <a:buChar char="§"/>
            </a:pPr>
            <a:r>
              <a:rPr lang="en-US" dirty="0" smtClean="0">
                <a:solidFill>
                  <a:schemeClr val="tx1"/>
                </a:solidFill>
              </a:rPr>
              <a:t>Understand the fundamentals of </a:t>
            </a:r>
            <a:r>
              <a:rPr lang="en-US" b="1" dirty="0" smtClean="0">
                <a:solidFill>
                  <a:schemeClr val="tx1"/>
                </a:solidFill>
              </a:rPr>
              <a:t>image classification using CNNs</a:t>
            </a:r>
            <a:r>
              <a:rPr lang="en-US" dirty="0" smtClean="0">
                <a:solidFill>
                  <a:schemeClr val="tx1"/>
                </a:solidFill>
              </a:rPr>
              <a:t>.</a:t>
            </a:r>
          </a:p>
          <a:p>
            <a:endParaRPr lang="en-US" dirty="0" smtClean="0">
              <a:solidFill>
                <a:schemeClr val="tx1"/>
              </a:solidFill>
            </a:endParaRPr>
          </a:p>
          <a:p>
            <a:pPr>
              <a:buFont typeface="Wingdings" pitchFamily="2" charset="2"/>
              <a:buChar char="§"/>
            </a:pPr>
            <a:r>
              <a:rPr lang="en-US" dirty="0" smtClean="0">
                <a:solidFill>
                  <a:schemeClr val="tx1"/>
                </a:solidFill>
              </a:rPr>
              <a:t>Apply </a:t>
            </a:r>
            <a:r>
              <a:rPr lang="en-US" b="1" dirty="0" smtClean="0">
                <a:solidFill>
                  <a:schemeClr val="tx1"/>
                </a:solidFill>
              </a:rPr>
              <a:t>transfer learning</a:t>
            </a:r>
            <a:r>
              <a:rPr lang="en-US" dirty="0" smtClean="0">
                <a:solidFill>
                  <a:schemeClr val="tx1"/>
                </a:solidFill>
              </a:rPr>
              <a:t> using pre-trained models like </a:t>
            </a:r>
            <a:r>
              <a:rPr lang="en-US" b="1" dirty="0" smtClean="0">
                <a:solidFill>
                  <a:schemeClr val="tx1"/>
                </a:solidFill>
              </a:rPr>
              <a:t>EfficientNetV2B0.</a:t>
            </a:r>
          </a:p>
          <a:p>
            <a:endParaRPr lang="en-US" b="1" dirty="0" smtClean="0">
              <a:solidFill>
                <a:schemeClr val="tx1"/>
              </a:solidFill>
            </a:endParaRPr>
          </a:p>
          <a:p>
            <a:pPr>
              <a:buFont typeface="Wingdings" pitchFamily="2" charset="2"/>
              <a:buChar char="§"/>
            </a:pPr>
            <a:r>
              <a:rPr lang="en-US" dirty="0" smtClean="0">
                <a:solidFill>
                  <a:schemeClr val="tx1"/>
                </a:solidFill>
              </a:rPr>
              <a:t>Load and preprocess image datasets using </a:t>
            </a:r>
            <a:r>
              <a:rPr lang="en-US" b="1" dirty="0" smtClean="0">
                <a:solidFill>
                  <a:schemeClr val="tx1"/>
                </a:solidFill>
              </a:rPr>
              <a:t>TensorFlow’s image_dataset_from_directory</a:t>
            </a:r>
            <a:r>
              <a:rPr lang="en-US" b="1" dirty="0" smtClean="0">
                <a:solidFill>
                  <a:schemeClr val="tx1"/>
                </a:solidFill>
              </a:rPr>
              <a:t>().</a:t>
            </a:r>
          </a:p>
          <a:p>
            <a:endParaRPr lang="en-US" b="1" dirty="0" smtClean="0">
              <a:solidFill>
                <a:schemeClr val="tx1"/>
              </a:solidFill>
            </a:endParaRPr>
          </a:p>
          <a:p>
            <a:pPr>
              <a:buFont typeface="Wingdings" pitchFamily="2" charset="2"/>
              <a:buChar char="§"/>
            </a:pPr>
            <a:r>
              <a:rPr lang="en-US" dirty="0" smtClean="0">
                <a:solidFill>
                  <a:schemeClr val="tx1"/>
                </a:solidFill>
              </a:rPr>
              <a:t>Train and evaluate deep learning models using </a:t>
            </a:r>
            <a:r>
              <a:rPr lang="en-US" b="1" dirty="0" smtClean="0">
                <a:solidFill>
                  <a:schemeClr val="tx1"/>
                </a:solidFill>
              </a:rPr>
              <a:t>Keras </a:t>
            </a:r>
            <a:r>
              <a:rPr lang="en-US" b="1" dirty="0" smtClean="0">
                <a:solidFill>
                  <a:schemeClr val="tx1"/>
                </a:solidFill>
              </a:rPr>
              <a:t>APIs.</a:t>
            </a:r>
          </a:p>
          <a:p>
            <a:pPr algn="ctr">
              <a:buFont typeface="Wingdings" pitchFamily="2" charset="2"/>
              <a:buChar char="§"/>
            </a:pPr>
            <a:endParaRPr lang="en-US" b="1" dirty="0" smtClean="0">
              <a:solidFill>
                <a:schemeClr val="tx1"/>
              </a:solidFill>
            </a:endParaRPr>
          </a:p>
          <a:p>
            <a:pPr>
              <a:buFont typeface="Wingdings" pitchFamily="2" charset="2"/>
              <a:buChar char="§"/>
            </a:pPr>
            <a:r>
              <a:rPr lang="en-US" dirty="0" smtClean="0">
                <a:solidFill>
                  <a:schemeClr val="tx1"/>
                </a:solidFill>
              </a:rPr>
              <a:t>Analyze model performance using </a:t>
            </a:r>
            <a:r>
              <a:rPr lang="en-US" b="1" dirty="0" smtClean="0">
                <a:solidFill>
                  <a:schemeClr val="tx1"/>
                </a:solidFill>
              </a:rPr>
              <a:t>confusion matrix</a:t>
            </a:r>
            <a:r>
              <a:rPr lang="en-US" dirty="0" smtClean="0">
                <a:solidFill>
                  <a:schemeClr val="tx1"/>
                </a:solidFill>
              </a:rPr>
              <a:t> and </a:t>
            </a:r>
            <a:r>
              <a:rPr lang="en-US" b="1" dirty="0" smtClean="0">
                <a:solidFill>
                  <a:schemeClr val="tx1"/>
                </a:solidFill>
              </a:rPr>
              <a:t>classification reports</a:t>
            </a:r>
            <a:r>
              <a:rPr lang="en-US" dirty="0" smtClean="0">
                <a:solidFill>
                  <a:schemeClr val="tx1"/>
                </a:solidFill>
              </a:rPr>
              <a:t>.</a:t>
            </a:r>
          </a:p>
          <a:p>
            <a:endParaRPr lang="en-US" dirty="0" smtClean="0">
              <a:solidFill>
                <a:schemeClr val="tx1"/>
              </a:solidFill>
            </a:endParaRPr>
          </a:p>
          <a:p>
            <a:pPr>
              <a:buFont typeface="Wingdings" pitchFamily="2" charset="2"/>
              <a:buChar char="§"/>
            </a:pPr>
            <a:r>
              <a:rPr lang="en-US" dirty="0" smtClean="0">
                <a:solidFill>
                  <a:schemeClr val="tx1"/>
                </a:solidFill>
              </a:rPr>
              <a:t>Create an interactive UI using </a:t>
            </a:r>
            <a:r>
              <a:rPr lang="en-US" b="1" dirty="0" smtClean="0">
                <a:solidFill>
                  <a:schemeClr val="tx1"/>
                </a:solidFill>
              </a:rPr>
              <a:t>Gradio</a:t>
            </a:r>
            <a:r>
              <a:rPr lang="en-US" dirty="0" smtClean="0">
                <a:solidFill>
                  <a:schemeClr val="tx1"/>
                </a:solidFill>
              </a:rPr>
              <a:t> for live </a:t>
            </a:r>
            <a:r>
              <a:rPr lang="en-US" dirty="0" smtClean="0">
                <a:solidFill>
                  <a:schemeClr val="tx1"/>
                </a:solidFill>
              </a:rPr>
              <a:t>predictions.</a:t>
            </a:r>
          </a:p>
          <a:p>
            <a:pPr algn="ctr">
              <a:buFont typeface="Wingdings" pitchFamily="2" charset="2"/>
              <a:buChar char="§"/>
            </a:pPr>
            <a:endParaRPr lang="en-US" dirty="0">
              <a:solidFill>
                <a:schemeClr val="tx1"/>
              </a:solidFill>
            </a:endParaRPr>
          </a:p>
        </p:txBody>
      </p:sp>
    </p:spTree>
    <p:extLst>
      <p:ext uri="{BB962C8B-B14F-4D97-AF65-F5344CB8AC3E}">
        <p14:creationId xmlns:p14="http://schemas.microsoft.com/office/powerpoint/2010/main" xmlns=""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4" name="Rectangle 3"/>
          <p:cNvSpPr/>
          <p:nvPr/>
        </p:nvSpPr>
        <p:spPr>
          <a:xfrm>
            <a:off x="202300" y="1707419"/>
            <a:ext cx="10600567"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itchFamily="2" charset="2"/>
              <a:buChar char="§"/>
            </a:pPr>
            <a:r>
              <a:rPr lang="en-US" b="1" dirty="0" err="1" smtClean="0">
                <a:solidFill>
                  <a:schemeClr val="tx1"/>
                </a:solidFill>
              </a:rPr>
              <a:t>TensorFlow</a:t>
            </a:r>
            <a:r>
              <a:rPr lang="en-US" b="1" dirty="0" smtClean="0">
                <a:solidFill>
                  <a:schemeClr val="tx1"/>
                </a:solidFill>
              </a:rPr>
              <a:t> &amp; Keras</a:t>
            </a:r>
            <a:r>
              <a:rPr lang="en-US" dirty="0" smtClean="0">
                <a:solidFill>
                  <a:schemeClr val="tx1"/>
                </a:solidFill>
              </a:rPr>
              <a:t> – For building, training, and evaluating deep learning </a:t>
            </a:r>
            <a:r>
              <a:rPr lang="en-US" dirty="0" smtClean="0">
                <a:solidFill>
                  <a:schemeClr val="tx1"/>
                </a:solidFill>
              </a:rPr>
              <a:t>models.</a:t>
            </a:r>
          </a:p>
          <a:p>
            <a:endParaRPr lang="en-US" dirty="0" smtClean="0">
              <a:solidFill>
                <a:schemeClr val="tx1"/>
              </a:solidFill>
            </a:endParaRPr>
          </a:p>
          <a:p>
            <a:pPr>
              <a:buFont typeface="Wingdings" pitchFamily="2" charset="2"/>
              <a:buChar char="§"/>
            </a:pPr>
            <a:r>
              <a:rPr lang="en-US" b="1" dirty="0" smtClean="0">
                <a:solidFill>
                  <a:schemeClr val="tx1"/>
                </a:solidFill>
              </a:rPr>
              <a:t>EfficientNetV2B0</a:t>
            </a:r>
            <a:r>
              <a:rPr lang="en-US" dirty="0" smtClean="0">
                <a:solidFill>
                  <a:schemeClr val="tx1"/>
                </a:solidFill>
              </a:rPr>
              <a:t> – Pre-trained CNN model used for transfer </a:t>
            </a:r>
            <a:r>
              <a:rPr lang="en-US" dirty="0" smtClean="0">
                <a:solidFill>
                  <a:schemeClr val="tx1"/>
                </a:solidFill>
              </a:rPr>
              <a:t>learning.</a:t>
            </a:r>
          </a:p>
          <a:p>
            <a:endParaRPr lang="en-US" dirty="0" smtClean="0">
              <a:solidFill>
                <a:schemeClr val="tx1"/>
              </a:solidFill>
            </a:endParaRPr>
          </a:p>
          <a:p>
            <a:pPr>
              <a:buFont typeface="Wingdings" pitchFamily="2" charset="2"/>
              <a:buChar char="§"/>
            </a:pPr>
            <a:r>
              <a:rPr lang="en-US" b="1" dirty="0" err="1" smtClean="0">
                <a:solidFill>
                  <a:schemeClr val="tx1"/>
                </a:solidFill>
              </a:rPr>
              <a:t>Matplotlib</a:t>
            </a:r>
            <a:r>
              <a:rPr lang="en-US" b="1" dirty="0" smtClean="0">
                <a:solidFill>
                  <a:schemeClr val="tx1"/>
                </a:solidFill>
              </a:rPr>
              <a:t> &amp; </a:t>
            </a:r>
            <a:r>
              <a:rPr lang="en-US" b="1" dirty="0" err="1" smtClean="0">
                <a:solidFill>
                  <a:schemeClr val="tx1"/>
                </a:solidFill>
              </a:rPr>
              <a:t>Seaborn</a:t>
            </a:r>
            <a:r>
              <a:rPr lang="en-US" dirty="0" smtClean="0">
                <a:solidFill>
                  <a:schemeClr val="tx1"/>
                </a:solidFill>
              </a:rPr>
              <a:t> – For visualizing model performance and confusion </a:t>
            </a:r>
            <a:r>
              <a:rPr lang="en-US" dirty="0" smtClean="0">
                <a:solidFill>
                  <a:schemeClr val="tx1"/>
                </a:solidFill>
              </a:rPr>
              <a:t>matrix.</a:t>
            </a:r>
          </a:p>
          <a:p>
            <a:endParaRPr lang="en-US" dirty="0" smtClean="0">
              <a:solidFill>
                <a:schemeClr val="tx1"/>
              </a:solidFill>
            </a:endParaRPr>
          </a:p>
          <a:p>
            <a:pPr>
              <a:buFont typeface="Wingdings" pitchFamily="2" charset="2"/>
              <a:buChar char="§"/>
            </a:pPr>
            <a:r>
              <a:rPr lang="en-US" b="1" dirty="0" err="1" smtClean="0">
                <a:solidFill>
                  <a:schemeClr val="tx1"/>
                </a:solidFill>
              </a:rPr>
              <a:t>TensorFlow</a:t>
            </a:r>
            <a:r>
              <a:rPr lang="en-US" b="1" dirty="0" smtClean="0">
                <a:solidFill>
                  <a:schemeClr val="tx1"/>
                </a:solidFill>
              </a:rPr>
              <a:t> Datasets API</a:t>
            </a:r>
            <a:r>
              <a:rPr lang="en-US" dirty="0" smtClean="0">
                <a:solidFill>
                  <a:schemeClr val="tx1"/>
                </a:solidFill>
              </a:rPr>
              <a:t> – To load and preprocess image data from </a:t>
            </a:r>
            <a:r>
              <a:rPr lang="en-US" dirty="0" smtClean="0">
                <a:solidFill>
                  <a:schemeClr val="tx1"/>
                </a:solidFill>
              </a:rPr>
              <a:t>directories.</a:t>
            </a:r>
          </a:p>
          <a:p>
            <a:endParaRPr lang="en-US" dirty="0" smtClean="0">
              <a:solidFill>
                <a:schemeClr val="tx1"/>
              </a:solidFill>
            </a:endParaRPr>
          </a:p>
          <a:p>
            <a:pPr>
              <a:buFont typeface="Wingdings" pitchFamily="2" charset="2"/>
              <a:buChar char="§"/>
            </a:pPr>
            <a:r>
              <a:rPr lang="en-US" b="1" dirty="0" smtClean="0">
                <a:solidFill>
                  <a:schemeClr val="tx1"/>
                </a:solidFill>
              </a:rPr>
              <a:t>Gradio</a:t>
            </a:r>
            <a:r>
              <a:rPr lang="en-US" dirty="0" smtClean="0">
                <a:solidFill>
                  <a:schemeClr val="tx1"/>
                </a:solidFill>
              </a:rPr>
              <a:t> – To create a real-time webcam-based UI for model </a:t>
            </a:r>
            <a:r>
              <a:rPr lang="en-US" dirty="0" smtClean="0">
                <a:solidFill>
                  <a:schemeClr val="tx1"/>
                </a:solidFill>
              </a:rPr>
              <a:t>inference.</a:t>
            </a:r>
          </a:p>
          <a:p>
            <a:endParaRPr lang="en-US" dirty="0" smtClean="0">
              <a:solidFill>
                <a:schemeClr val="tx1"/>
              </a:solidFill>
            </a:endParaRPr>
          </a:p>
          <a:p>
            <a:pPr>
              <a:buFont typeface="Wingdings" pitchFamily="2" charset="2"/>
              <a:buChar char="§"/>
            </a:pPr>
            <a:r>
              <a:rPr lang="en-US" b="1" dirty="0" err="1" smtClean="0">
                <a:solidFill>
                  <a:schemeClr val="tx1"/>
                </a:solidFill>
              </a:rPr>
              <a:t>NumPy</a:t>
            </a:r>
            <a:r>
              <a:rPr lang="en-US" b="1" dirty="0" smtClean="0">
                <a:solidFill>
                  <a:schemeClr val="tx1"/>
                </a:solidFill>
              </a:rPr>
              <a:t> &amp; PIL</a:t>
            </a:r>
            <a:r>
              <a:rPr lang="en-US" dirty="0" smtClean="0">
                <a:solidFill>
                  <a:schemeClr val="tx1"/>
                </a:solidFill>
              </a:rPr>
              <a:t> – For image manipulation and array </a:t>
            </a:r>
            <a:r>
              <a:rPr lang="en-US" dirty="0" smtClean="0">
                <a:solidFill>
                  <a:schemeClr val="tx1"/>
                </a:solidFill>
              </a:rPr>
              <a:t>processing.</a:t>
            </a:r>
          </a:p>
          <a:p>
            <a:endParaRPr lang="en-US" dirty="0" smtClean="0">
              <a:solidFill>
                <a:schemeClr val="tx1"/>
              </a:solidFill>
            </a:endParaRPr>
          </a:p>
          <a:p>
            <a:pPr>
              <a:buFont typeface="Wingdings" pitchFamily="2" charset="2"/>
              <a:buChar char="§"/>
            </a:pPr>
            <a:r>
              <a:rPr lang="en-US" b="1" dirty="0" err="1" smtClean="0">
                <a:solidFill>
                  <a:schemeClr val="tx1"/>
                </a:solidFill>
              </a:rPr>
              <a:t>Scikit</a:t>
            </a:r>
            <a:r>
              <a:rPr lang="en-US" b="1" dirty="0" smtClean="0">
                <a:solidFill>
                  <a:schemeClr val="tx1"/>
                </a:solidFill>
              </a:rPr>
              <a:t>-learn (</a:t>
            </a:r>
            <a:r>
              <a:rPr lang="en-US" b="1" dirty="0" err="1" smtClean="0">
                <a:solidFill>
                  <a:schemeClr val="tx1"/>
                </a:solidFill>
              </a:rPr>
              <a:t>sklearn</a:t>
            </a:r>
            <a:r>
              <a:rPr lang="en-US" b="1" dirty="0" smtClean="0">
                <a:solidFill>
                  <a:schemeClr val="tx1"/>
                </a:solidFill>
              </a:rPr>
              <a:t>)</a:t>
            </a:r>
            <a:r>
              <a:rPr lang="en-US" dirty="0" smtClean="0">
                <a:solidFill>
                  <a:schemeClr val="tx1"/>
                </a:solidFill>
              </a:rPr>
              <a:t> – For generating classification reports and confusion </a:t>
            </a:r>
            <a:r>
              <a:rPr lang="en-US" dirty="0" smtClean="0">
                <a:solidFill>
                  <a:schemeClr val="tx1"/>
                </a:solidFill>
              </a:rPr>
              <a:t>matrices.</a:t>
            </a:r>
          </a:p>
          <a:p>
            <a:endParaRPr lang="en-US" dirty="0" smtClean="0">
              <a:solidFill>
                <a:schemeClr val="tx1"/>
              </a:solidFill>
            </a:endParaRPr>
          </a:p>
          <a:p>
            <a:pPr>
              <a:buFont typeface="Wingdings" pitchFamily="2" charset="2"/>
              <a:buChar char="§"/>
            </a:pPr>
            <a:r>
              <a:rPr lang="en-US" b="1" dirty="0" err="1" smtClean="0">
                <a:solidFill>
                  <a:schemeClr val="tx1"/>
                </a:solidFill>
              </a:rPr>
              <a:t>Jupyter</a:t>
            </a:r>
            <a:r>
              <a:rPr lang="en-US" b="1" dirty="0" smtClean="0">
                <a:solidFill>
                  <a:schemeClr val="tx1"/>
                </a:solidFill>
              </a:rPr>
              <a:t> Notebook</a:t>
            </a:r>
            <a:r>
              <a:rPr lang="en-US" dirty="0" smtClean="0">
                <a:solidFill>
                  <a:schemeClr val="tx1"/>
                </a:solidFill>
              </a:rPr>
              <a:t> – For interactive coding, experimentation, and </a:t>
            </a:r>
            <a:r>
              <a:rPr lang="en-US" dirty="0" smtClean="0">
                <a:solidFill>
                  <a:schemeClr val="tx1"/>
                </a:solidFill>
              </a:rPr>
              <a:t>visualization.</a:t>
            </a:r>
            <a:endParaRPr lang="en-US" dirty="0">
              <a:solidFill>
                <a:schemeClr val="tx1"/>
              </a:solidFill>
            </a:endParaRPr>
          </a:p>
        </p:txBody>
      </p:sp>
    </p:spTree>
    <p:extLst>
      <p:ext uri="{BB962C8B-B14F-4D97-AF65-F5344CB8AC3E}">
        <p14:creationId xmlns:p14="http://schemas.microsoft.com/office/powerpoint/2010/main" xmlns=""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Rectangle 3"/>
          <p:cNvSpPr/>
          <p:nvPr/>
        </p:nvSpPr>
        <p:spPr>
          <a:xfrm>
            <a:off x="202300" y="1707419"/>
            <a:ext cx="10600567"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itchFamily="2" charset="2"/>
              <a:buChar char="Ø"/>
            </a:pPr>
            <a:r>
              <a:rPr lang="en-US" dirty="0" smtClean="0">
                <a:solidFill>
                  <a:schemeClr val="tx1"/>
                </a:solidFill>
              </a:rPr>
              <a:t>The project starts by organizing image data into training and testing folders. Using TensorFlow's utility functions, the images are loaded, resized, and batched. A pre-trained </a:t>
            </a:r>
            <a:r>
              <a:rPr lang="en-US" b="1" dirty="0" smtClean="0">
                <a:solidFill>
                  <a:schemeClr val="tx1"/>
                </a:solidFill>
              </a:rPr>
              <a:t>EfficientNetV2B0</a:t>
            </a:r>
            <a:r>
              <a:rPr lang="en-US" dirty="0" smtClean="0">
                <a:solidFill>
                  <a:schemeClr val="tx1"/>
                </a:solidFill>
              </a:rPr>
              <a:t> model is used for transfer learning, with a custom classification layer added on top. The model is compiled, trained, and evaluated using metrics like accuracy and confusion matrix to validate performance.</a:t>
            </a:r>
          </a:p>
          <a:p>
            <a:endParaRPr lang="en-US" dirty="0" smtClean="0">
              <a:solidFill>
                <a:schemeClr val="tx1"/>
              </a:solidFill>
            </a:endParaRPr>
          </a:p>
          <a:p>
            <a:endParaRPr lang="en-US" dirty="0" smtClean="0">
              <a:solidFill>
                <a:schemeClr val="tx1"/>
              </a:solidFill>
            </a:endParaRPr>
          </a:p>
          <a:p>
            <a:pPr>
              <a:buFont typeface="Wingdings" pitchFamily="2" charset="2"/>
              <a:buChar char="Ø"/>
            </a:pPr>
            <a:r>
              <a:rPr lang="en-US" dirty="0" smtClean="0">
                <a:solidFill>
                  <a:schemeClr val="tx1"/>
                </a:solidFill>
              </a:rPr>
              <a:t>For real-time deployment, the trained model is integrated with </a:t>
            </a:r>
            <a:r>
              <a:rPr lang="en-US" b="1" dirty="0" smtClean="0">
                <a:solidFill>
                  <a:schemeClr val="tx1"/>
                </a:solidFill>
              </a:rPr>
              <a:t>Gradio</a:t>
            </a:r>
            <a:r>
              <a:rPr lang="en-US" dirty="0" smtClean="0">
                <a:solidFill>
                  <a:schemeClr val="tx1"/>
                </a:solidFill>
              </a:rPr>
              <a:t>, allowing webcam input for live image classification. Captured images are preprocessed and passed to the model, which instantly displays predictions. This setup demonstrates the practical use of deep learning in interactive applications.</a:t>
            </a:r>
            <a:endParaRPr lang="en-US" dirty="0" smtClean="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xmlns=""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55104" y="876387"/>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Rectangle 3"/>
          <p:cNvSpPr/>
          <p:nvPr/>
        </p:nvSpPr>
        <p:spPr>
          <a:xfrm>
            <a:off x="445061" y="1561762"/>
            <a:ext cx="10600567"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itchFamily="2" charset="2"/>
              <a:buChar char="q"/>
            </a:pPr>
            <a:r>
              <a:rPr lang="en-US" dirty="0" smtClean="0">
                <a:solidFill>
                  <a:schemeClr val="tx1"/>
                </a:solidFill>
              </a:rPr>
              <a:t>E-waste (electronic waste) is rapidly becoming a serious environmental and health issue around the world. Proper sorting and categorization of e-waste is essential for efficient recycling and disposal, but manual classification is error-prone and labor-intensive</a:t>
            </a:r>
            <a:r>
              <a:rPr lang="en-US" dirty="0" smtClean="0">
                <a:solidFill>
                  <a:schemeClr val="tx1"/>
                </a:solidFill>
              </a:rPr>
              <a:t>.</a:t>
            </a:r>
          </a:p>
          <a:p>
            <a:endParaRPr lang="en-US" dirty="0" smtClean="0">
              <a:solidFill>
                <a:schemeClr val="tx1"/>
              </a:solidFill>
            </a:endParaRPr>
          </a:p>
          <a:p>
            <a:endParaRPr lang="en-US" dirty="0" smtClean="0">
              <a:solidFill>
                <a:schemeClr val="tx1"/>
              </a:solidFill>
            </a:endParaRPr>
          </a:p>
          <a:p>
            <a:endParaRPr lang="en-US" dirty="0" smtClean="0">
              <a:solidFill>
                <a:schemeClr val="tx1"/>
              </a:solidFill>
            </a:endParaRPr>
          </a:p>
          <a:p>
            <a:pPr>
              <a:buFont typeface="Wingdings" pitchFamily="2" charset="2"/>
              <a:buChar char="q"/>
            </a:pPr>
            <a:r>
              <a:rPr lang="en-US" dirty="0" smtClean="0">
                <a:solidFill>
                  <a:schemeClr val="tx1"/>
                </a:solidFill>
              </a:rPr>
              <a:t>This project aims to build an automated e-waste classification system using artificial intelligence and machine learning. By training a deep learning model on images of different types of e-waste, we can identify and categorize them accurately</a:t>
            </a:r>
          </a:p>
          <a:p>
            <a:endParaRPr lang="en-US" dirty="0">
              <a:solidFill>
                <a:schemeClr val="tx1"/>
              </a:solidFill>
            </a:endParaRPr>
          </a:p>
        </p:txBody>
      </p:sp>
    </p:spTree>
    <p:extLst>
      <p:ext uri="{BB962C8B-B14F-4D97-AF65-F5344CB8AC3E}">
        <p14:creationId xmlns:p14="http://schemas.microsoft.com/office/powerpoint/2010/main" xmlns=""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Rectangle 3"/>
          <p:cNvSpPr/>
          <p:nvPr/>
        </p:nvSpPr>
        <p:spPr>
          <a:xfrm>
            <a:off x="509797" y="1521302"/>
            <a:ext cx="10600567"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itchFamily="2" charset="2"/>
              <a:buChar char="v"/>
            </a:pPr>
            <a:r>
              <a:rPr lang="en-US" dirty="0" smtClean="0">
                <a:solidFill>
                  <a:schemeClr val="tx1"/>
                </a:solidFill>
              </a:rPr>
              <a:t>Used a pre-trained </a:t>
            </a:r>
            <a:r>
              <a:rPr lang="en-US" b="1" dirty="0" smtClean="0">
                <a:solidFill>
                  <a:schemeClr val="tx1"/>
                </a:solidFill>
              </a:rPr>
              <a:t>EfficientNetV2B0</a:t>
            </a:r>
            <a:r>
              <a:rPr lang="en-US" dirty="0" smtClean="0">
                <a:solidFill>
                  <a:schemeClr val="tx1"/>
                </a:solidFill>
              </a:rPr>
              <a:t> model with transfer learning for image </a:t>
            </a:r>
            <a:r>
              <a:rPr lang="en-US" dirty="0" smtClean="0">
                <a:solidFill>
                  <a:schemeClr val="tx1"/>
                </a:solidFill>
              </a:rPr>
              <a:t>classification.</a:t>
            </a:r>
          </a:p>
          <a:p>
            <a:pPr marL="457200" indent="-457200"/>
            <a:endParaRPr lang="en-US" dirty="0" smtClean="0">
              <a:solidFill>
                <a:schemeClr val="tx1"/>
              </a:solidFill>
            </a:endParaRPr>
          </a:p>
          <a:p>
            <a:pPr marL="457200" indent="-457200">
              <a:buFont typeface="Wingdings" pitchFamily="2" charset="2"/>
              <a:buChar char="v"/>
            </a:pPr>
            <a:r>
              <a:rPr lang="en-US" dirty="0" smtClean="0">
                <a:solidFill>
                  <a:schemeClr val="tx1"/>
                </a:solidFill>
              </a:rPr>
              <a:t>Loaded and preprocessed image data using TensorFlow’s dataset </a:t>
            </a:r>
            <a:r>
              <a:rPr lang="en-US" dirty="0" smtClean="0">
                <a:solidFill>
                  <a:schemeClr val="tx1"/>
                </a:solidFill>
              </a:rPr>
              <a:t>utilities.</a:t>
            </a:r>
          </a:p>
          <a:p>
            <a:pPr marL="457200" indent="-457200"/>
            <a:endParaRPr lang="en-US" dirty="0" smtClean="0">
              <a:solidFill>
                <a:schemeClr val="tx1"/>
              </a:solidFill>
            </a:endParaRPr>
          </a:p>
          <a:p>
            <a:pPr marL="457200" indent="-457200">
              <a:buFont typeface="Wingdings" pitchFamily="2" charset="2"/>
              <a:buChar char="v"/>
            </a:pPr>
            <a:r>
              <a:rPr lang="en-US" dirty="0" smtClean="0">
                <a:solidFill>
                  <a:schemeClr val="tx1"/>
                </a:solidFill>
              </a:rPr>
              <a:t>Trained the model and evaluated performance using </a:t>
            </a:r>
            <a:r>
              <a:rPr lang="en-US" b="1" dirty="0" smtClean="0">
                <a:solidFill>
                  <a:schemeClr val="tx1"/>
                </a:solidFill>
              </a:rPr>
              <a:t>accuracy</a:t>
            </a:r>
            <a:r>
              <a:rPr lang="en-US" dirty="0" smtClean="0">
                <a:solidFill>
                  <a:schemeClr val="tx1"/>
                </a:solidFill>
              </a:rPr>
              <a:t> and </a:t>
            </a:r>
            <a:r>
              <a:rPr lang="en-US" b="1" dirty="0" smtClean="0">
                <a:solidFill>
                  <a:schemeClr val="tx1"/>
                </a:solidFill>
              </a:rPr>
              <a:t>confusion </a:t>
            </a:r>
            <a:r>
              <a:rPr lang="en-US" b="1" dirty="0" smtClean="0">
                <a:solidFill>
                  <a:schemeClr val="tx1"/>
                </a:solidFill>
              </a:rPr>
              <a:t>matrix.</a:t>
            </a:r>
          </a:p>
          <a:p>
            <a:pPr marL="457200" indent="-457200"/>
            <a:endParaRPr lang="en-US" b="1" dirty="0" smtClean="0">
              <a:solidFill>
                <a:schemeClr val="tx1"/>
              </a:solidFill>
            </a:endParaRPr>
          </a:p>
          <a:p>
            <a:pPr marL="457200" indent="-457200">
              <a:buFont typeface="Wingdings" pitchFamily="2" charset="2"/>
              <a:buChar char="v"/>
            </a:pPr>
            <a:r>
              <a:rPr lang="en-US" dirty="0" smtClean="0">
                <a:solidFill>
                  <a:schemeClr val="tx1"/>
                </a:solidFill>
              </a:rPr>
              <a:t>Integrated the trained model with </a:t>
            </a:r>
            <a:r>
              <a:rPr lang="en-US" b="1" dirty="0" smtClean="0">
                <a:solidFill>
                  <a:schemeClr val="tx1"/>
                </a:solidFill>
              </a:rPr>
              <a:t>Gradio</a:t>
            </a:r>
            <a:r>
              <a:rPr lang="en-US" dirty="0" smtClean="0">
                <a:solidFill>
                  <a:schemeClr val="tx1"/>
                </a:solidFill>
              </a:rPr>
              <a:t> to enable real-time webcam-based </a:t>
            </a:r>
            <a:r>
              <a:rPr lang="en-US" dirty="0" smtClean="0">
                <a:solidFill>
                  <a:schemeClr val="tx1"/>
                </a:solidFill>
              </a:rPr>
              <a:t>predictions.</a:t>
            </a:r>
          </a:p>
          <a:p>
            <a:pPr marL="457200" indent="-457200"/>
            <a:endParaRPr lang="en-US" dirty="0" smtClean="0">
              <a:solidFill>
                <a:schemeClr val="tx1"/>
              </a:solidFill>
            </a:endParaRPr>
          </a:p>
          <a:p>
            <a:pPr marL="457200" indent="-457200">
              <a:buFont typeface="Wingdings" pitchFamily="2" charset="2"/>
              <a:buChar char="v"/>
            </a:pPr>
            <a:r>
              <a:rPr lang="en-US" dirty="0" smtClean="0">
                <a:solidFill>
                  <a:schemeClr val="tx1"/>
                </a:solidFill>
              </a:rPr>
              <a:t>Captured live images via webcam, resized and normalized them before </a:t>
            </a:r>
            <a:r>
              <a:rPr lang="en-US" dirty="0" smtClean="0">
                <a:solidFill>
                  <a:schemeClr val="tx1"/>
                </a:solidFill>
              </a:rPr>
              <a:t>inference.</a:t>
            </a:r>
          </a:p>
          <a:p>
            <a:pPr marL="457200" indent="-457200"/>
            <a:endParaRPr lang="en-US" dirty="0" smtClean="0">
              <a:solidFill>
                <a:schemeClr val="tx1"/>
              </a:solidFill>
            </a:endParaRPr>
          </a:p>
          <a:p>
            <a:pPr marL="457200" indent="-457200">
              <a:buFont typeface="Wingdings" pitchFamily="2" charset="2"/>
              <a:buChar char="v"/>
            </a:pPr>
            <a:r>
              <a:rPr lang="en-US" dirty="0" smtClean="0">
                <a:solidFill>
                  <a:schemeClr val="tx1"/>
                </a:solidFill>
              </a:rPr>
              <a:t>Displayed instant classification results in a browser-based </a:t>
            </a:r>
            <a:r>
              <a:rPr lang="en-US" dirty="0" smtClean="0">
                <a:solidFill>
                  <a:schemeClr val="tx1"/>
                </a:solidFill>
              </a:rPr>
              <a:t>interactive.</a:t>
            </a:r>
            <a:endParaRPr lang="en-US" dirty="0">
              <a:solidFill>
                <a:schemeClr val="tx1"/>
              </a:solidFill>
            </a:endParaRPr>
          </a:p>
        </p:txBody>
      </p:sp>
    </p:spTree>
    <p:extLst>
      <p:ext uri="{BB962C8B-B14F-4D97-AF65-F5344CB8AC3E}">
        <p14:creationId xmlns:p14="http://schemas.microsoft.com/office/powerpoint/2010/main" xmlns=""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descr="Screenshot 2025-07-05 220700.png"/>
          <p:cNvPicPr>
            <a:picLocks noChangeAspect="1"/>
          </p:cNvPicPr>
          <p:nvPr/>
        </p:nvPicPr>
        <p:blipFill>
          <a:blip r:embed="rId2"/>
          <a:stretch>
            <a:fillRect/>
          </a:stretch>
        </p:blipFill>
        <p:spPr>
          <a:xfrm>
            <a:off x="1488934" y="1832119"/>
            <a:ext cx="8480453" cy="4528221"/>
          </a:xfrm>
          <a:prstGeom prst="rect">
            <a:avLst/>
          </a:prstGeom>
        </p:spPr>
      </p:pic>
    </p:spTree>
    <p:extLst>
      <p:ext uri="{BB962C8B-B14F-4D97-AF65-F5344CB8AC3E}">
        <p14:creationId xmlns:p14="http://schemas.microsoft.com/office/powerpoint/2010/main" xmlns=""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5" name="Rectangle 4"/>
          <p:cNvSpPr/>
          <p:nvPr/>
        </p:nvSpPr>
        <p:spPr>
          <a:xfrm>
            <a:off x="250851" y="1836892"/>
            <a:ext cx="10600567" cy="4385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Courier New" pitchFamily="49" charset="0"/>
              <a:buChar char="o"/>
            </a:pPr>
            <a:r>
              <a:rPr lang="en-US" dirty="0" smtClean="0">
                <a:solidFill>
                  <a:schemeClr val="tx1"/>
                </a:solidFill>
              </a:rPr>
              <a:t>Successfully implemented an end-to-end </a:t>
            </a:r>
            <a:r>
              <a:rPr lang="en-US" b="1" dirty="0" smtClean="0">
                <a:solidFill>
                  <a:schemeClr val="tx1"/>
                </a:solidFill>
              </a:rPr>
              <a:t>image classification system</a:t>
            </a:r>
            <a:r>
              <a:rPr lang="en-US" dirty="0" smtClean="0">
                <a:solidFill>
                  <a:schemeClr val="tx1"/>
                </a:solidFill>
              </a:rPr>
              <a:t> using deep learning</a:t>
            </a:r>
            <a:r>
              <a:rPr lang="en-US" dirty="0" smtClean="0">
                <a:solidFill>
                  <a:schemeClr val="tx1"/>
                </a:solidFill>
              </a:rPr>
              <a:t>.</a:t>
            </a:r>
          </a:p>
          <a:p>
            <a:pPr marL="457200" indent="-457200"/>
            <a:endParaRPr lang="en-US" dirty="0" smtClean="0">
              <a:solidFill>
                <a:schemeClr val="tx1"/>
              </a:solidFill>
            </a:endParaRPr>
          </a:p>
          <a:p>
            <a:pPr marL="457200" indent="-457200">
              <a:buFont typeface="Courier New" pitchFamily="49" charset="0"/>
              <a:buChar char="o"/>
            </a:pPr>
            <a:r>
              <a:rPr lang="en-US" dirty="0" smtClean="0">
                <a:solidFill>
                  <a:schemeClr val="tx1"/>
                </a:solidFill>
              </a:rPr>
              <a:t>Demonstrated the power of </a:t>
            </a:r>
            <a:r>
              <a:rPr lang="en-US" b="1" dirty="0" smtClean="0">
                <a:solidFill>
                  <a:schemeClr val="tx1"/>
                </a:solidFill>
              </a:rPr>
              <a:t>transfer learning</a:t>
            </a:r>
            <a:r>
              <a:rPr lang="en-US" dirty="0" smtClean="0">
                <a:solidFill>
                  <a:schemeClr val="tx1"/>
                </a:solidFill>
              </a:rPr>
              <a:t> with </a:t>
            </a:r>
            <a:r>
              <a:rPr lang="en-US" dirty="0" err="1" smtClean="0">
                <a:solidFill>
                  <a:schemeClr val="tx1"/>
                </a:solidFill>
              </a:rPr>
              <a:t>EfficientNet</a:t>
            </a:r>
            <a:r>
              <a:rPr lang="en-US" dirty="0" smtClean="0">
                <a:solidFill>
                  <a:schemeClr val="tx1"/>
                </a:solidFill>
              </a:rPr>
              <a:t> for high accuracy with limited data</a:t>
            </a:r>
            <a:r>
              <a:rPr lang="en-US" dirty="0" smtClean="0">
                <a:solidFill>
                  <a:schemeClr val="tx1"/>
                </a:solidFill>
              </a:rPr>
              <a:t>.</a:t>
            </a:r>
          </a:p>
          <a:p>
            <a:pPr marL="457200" indent="-457200"/>
            <a:endParaRPr lang="en-US" dirty="0" smtClean="0">
              <a:solidFill>
                <a:schemeClr val="tx1"/>
              </a:solidFill>
            </a:endParaRPr>
          </a:p>
          <a:p>
            <a:pPr marL="457200" indent="-457200">
              <a:buFont typeface="Courier New" pitchFamily="49" charset="0"/>
              <a:buChar char="o"/>
            </a:pPr>
            <a:r>
              <a:rPr lang="en-US" dirty="0" smtClean="0">
                <a:solidFill>
                  <a:schemeClr val="tx1"/>
                </a:solidFill>
              </a:rPr>
              <a:t>Showcased a real-time, user-friendly deployment using </a:t>
            </a:r>
            <a:r>
              <a:rPr lang="en-US" b="1" dirty="0" smtClean="0">
                <a:solidFill>
                  <a:schemeClr val="tx1"/>
                </a:solidFill>
              </a:rPr>
              <a:t>Gradio</a:t>
            </a:r>
            <a:r>
              <a:rPr lang="en-US" dirty="0" smtClean="0">
                <a:solidFill>
                  <a:schemeClr val="tx1"/>
                </a:solidFill>
              </a:rPr>
              <a:t> and webcam integration</a:t>
            </a:r>
            <a:r>
              <a:rPr lang="en-US" dirty="0" smtClean="0">
                <a:solidFill>
                  <a:schemeClr val="tx1"/>
                </a:solidFill>
              </a:rPr>
              <a:t>.</a:t>
            </a:r>
          </a:p>
          <a:p>
            <a:pPr marL="457200" indent="-457200"/>
            <a:endParaRPr lang="en-US" dirty="0" smtClean="0">
              <a:solidFill>
                <a:schemeClr val="tx1"/>
              </a:solidFill>
            </a:endParaRPr>
          </a:p>
          <a:p>
            <a:pPr marL="457200" indent="-457200">
              <a:buFont typeface="Courier New" pitchFamily="49" charset="0"/>
              <a:buChar char="o"/>
            </a:pPr>
            <a:r>
              <a:rPr lang="en-US" dirty="0" smtClean="0">
                <a:solidFill>
                  <a:schemeClr val="tx1"/>
                </a:solidFill>
              </a:rPr>
              <a:t>Proved the model's ability to classify live images accurately in a practical environment</a:t>
            </a:r>
            <a:r>
              <a:rPr lang="en-US" dirty="0" smtClean="0">
                <a:solidFill>
                  <a:schemeClr val="tx1"/>
                </a:solidFill>
              </a:rPr>
              <a:t>.</a:t>
            </a:r>
          </a:p>
          <a:p>
            <a:pPr marL="457200" indent="-457200"/>
            <a:endParaRPr lang="en-US" dirty="0" smtClean="0">
              <a:solidFill>
                <a:schemeClr val="tx1"/>
              </a:solidFill>
            </a:endParaRPr>
          </a:p>
          <a:p>
            <a:pPr marL="457200" indent="-457200">
              <a:buFont typeface="Courier New" pitchFamily="49" charset="0"/>
              <a:buChar char="o"/>
            </a:pPr>
            <a:r>
              <a:rPr lang="en-US" dirty="0" smtClean="0">
                <a:solidFill>
                  <a:schemeClr val="tx1"/>
                </a:solidFill>
              </a:rPr>
              <a:t>This project bridges the gap between </a:t>
            </a:r>
            <a:r>
              <a:rPr lang="en-US" b="1" dirty="0" smtClean="0">
                <a:solidFill>
                  <a:schemeClr val="tx1"/>
                </a:solidFill>
              </a:rPr>
              <a:t>theoretical machine learning</a:t>
            </a:r>
            <a:r>
              <a:rPr lang="en-US" dirty="0" smtClean="0">
                <a:solidFill>
                  <a:schemeClr val="tx1"/>
                </a:solidFill>
              </a:rPr>
              <a:t> and </a:t>
            </a:r>
            <a:r>
              <a:rPr lang="en-US" b="1" dirty="0" smtClean="0">
                <a:solidFill>
                  <a:schemeClr val="tx1"/>
                </a:solidFill>
              </a:rPr>
              <a:t>real-world application</a:t>
            </a:r>
            <a:r>
              <a:rPr lang="en-US" dirty="0" smtClean="0">
                <a:solidFill>
                  <a:schemeClr val="tx1"/>
                </a:solidFill>
              </a:rPr>
              <a:t>.</a:t>
            </a:r>
            <a:r>
              <a:rPr lang="en-US" dirty="0" smtClean="0"/>
              <a:t>.\</a:t>
            </a:r>
          </a:p>
          <a:p>
            <a:pPr marL="457200" indent="-457200"/>
            <a:endParaRPr lang="en-US" dirty="0" smtClean="0"/>
          </a:p>
          <a:p>
            <a:pPr marL="457200" indent="-457200">
              <a:buFont typeface="Courier New" pitchFamily="49" charset="0"/>
              <a:buChar char="o"/>
            </a:pPr>
            <a:r>
              <a:rPr lang="en-US" dirty="0" smtClean="0">
                <a:solidFill>
                  <a:schemeClr val="tx1"/>
                </a:solidFill>
                <a:hlinkClick r:id="rId2"/>
              </a:rPr>
              <a:t>Github_link</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xmlns=""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194</TotalTime>
  <Words>518</Words>
  <Application>Microsoft Office PowerPoint</Application>
  <PresentationFormat>Custom</PresentationFormat>
  <Paragraphs>69</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Session 01 Design Thinking &amp; Critical Thinking</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Ninad Thorat</cp:lastModifiedBy>
  <cp:revision>21</cp:revision>
  <dcterms:created xsi:type="dcterms:W3CDTF">2024-12-31T09:40:01Z</dcterms:created>
  <dcterms:modified xsi:type="dcterms:W3CDTF">2025-07-05T16:39:29Z</dcterms:modified>
</cp:coreProperties>
</file>